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perguntando: quando treinamos ou ajustamos um modelo de IA, o que exatamente estamos procurando?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como contrato da aula. Tudo depois volta para estes quatro movimentos.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vocabulário que os alunos devem levar para qualquer algoritmo visto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sliders da demo. Primeiro ajuste manualmente, depois rode a descida do gradiente.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precisa aprofundar cálculo. O ponto é: o gradiente é uma bússola local, não um mapa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um ponto inicial preso em mínimo local. Depois mude o início e a taxa de aprendizado.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vale deixar claro: a visualização 3D ainda é uma mentira útil, porque mostra só duas dimensões.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avaliação é cara porque cada ponto pode significar treinar um modelo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ideia de Bergstra e Bengio: se poucas dimensões importam, random cobre melhor os valores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seleção, cruzamento e mutação com exploração e explotação.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Exemplo: muitas configurações com poucas épocas, poucas configurações com muitas épocas.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importante para alunos não confundirem tuning com tentativa descontrolada.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principal: Rastrigin em 10 dimensões. Exigir gráfico de melhor valor por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/#regressa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/#minimo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/#espaco3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00A676">
              <a:alpha val="24000"/>
            </a:srgbClr>
          </a:solidFill>
          <a:ln w="12700">
            <a:solidFill>
              <a:srgbClr val="00A6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01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461554" cy="0"/>
          </a:xfrm>
          <a:prstGeom prst="line">
            <a:avLst/>
          </a:prstGeom>
          <a:noFill/>
          <a:ln w="2794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99298" y="6565392"/>
            <a:ext cx="9231086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676"/>
                </a:solidFill>
              </a:rPr>
              <a:t>IA, OTIMIZAÇÃO E HIPERPARÂMETROS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 em espaços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850392" y="4572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FCBC0"/>
                </a:solidFill>
              </a:rPr>
              <a:t>Como encontrar boas soluções quando não dá para testar tudo.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669280" y="1143000"/>
            <a:ext cx="5715000" cy="5074920"/>
          </a:xfrm>
          <a:prstGeom prst="roundRect">
            <a:avLst>
              <a:gd name="adj" fmla="val 1441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4480560"/>
            <a:ext cx="320040" cy="594360"/>
          </a:xfrm>
          <a:prstGeom prst="line">
            <a:avLst/>
          </a:prstGeom>
          <a:noFill/>
          <a:ln w="11430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989320" y="5074920"/>
            <a:ext cx="502920" cy="-2103120"/>
          </a:xfrm>
          <a:prstGeom prst="line">
            <a:avLst/>
          </a:prstGeom>
          <a:noFill/>
          <a:ln w="11430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6492240" y="2971800"/>
            <a:ext cx="502920" cy="868680"/>
          </a:xfrm>
          <a:prstGeom prst="line">
            <a:avLst/>
          </a:prstGeom>
          <a:noFill/>
          <a:ln w="11430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6995160" y="3840480"/>
            <a:ext cx="502920" cy="45720"/>
          </a:xfrm>
          <a:prstGeom prst="line">
            <a:avLst/>
          </a:prstGeom>
          <a:noFill/>
          <a:ln w="11430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7498080" y="3886200"/>
            <a:ext cx="502920" cy="-1920240"/>
          </a:xfrm>
          <a:prstGeom prst="line">
            <a:avLst/>
          </a:prstGeom>
          <a:noFill/>
          <a:ln w="11430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8001000" y="1965960"/>
            <a:ext cx="502920" cy="365760"/>
          </a:xfrm>
          <a:prstGeom prst="line">
            <a:avLst/>
          </a:prstGeom>
          <a:noFill/>
          <a:ln w="11430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8503920" y="2331720"/>
            <a:ext cx="411480" cy="1371600"/>
          </a:xfrm>
          <a:prstGeom prst="line">
            <a:avLst/>
          </a:prstGeom>
          <a:noFill/>
          <a:ln w="11430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8915400" y="3703320"/>
            <a:ext cx="457200" cy="640080"/>
          </a:xfrm>
          <a:prstGeom prst="line">
            <a:avLst/>
          </a:prstGeom>
          <a:noFill/>
          <a:ln w="11430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9372600" y="4343400"/>
            <a:ext cx="457200" cy="-1399032"/>
          </a:xfrm>
          <a:prstGeom prst="line">
            <a:avLst/>
          </a:prstGeom>
          <a:noFill/>
          <a:ln w="11430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9829800" y="2944368"/>
            <a:ext cx="457200" cy="1792224"/>
          </a:xfrm>
          <a:prstGeom prst="line">
            <a:avLst/>
          </a:prstGeom>
          <a:noFill/>
          <a:ln w="11430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10287000" y="4736592"/>
            <a:ext cx="594360" cy="-1261872"/>
          </a:xfrm>
          <a:prstGeom prst="line">
            <a:avLst/>
          </a:prstGeom>
          <a:noFill/>
          <a:ln w="11430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0881360" y="3474720"/>
            <a:ext cx="502920" cy="-1261872"/>
          </a:xfrm>
          <a:prstGeom prst="line">
            <a:avLst/>
          </a:prstGeom>
          <a:noFill/>
          <a:ln w="11430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9555480" y="269748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29400" y="4315968"/>
            <a:ext cx="246888" cy="246888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32520" y="3493008"/>
            <a:ext cx="301752" cy="3017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2D6CDF">
              <a:alpha val="24000"/>
            </a:srgbClr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02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923109" cy="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160853" y="6565392"/>
            <a:ext cx="8769531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thesis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6CDF"/>
                </a:solidFill>
              </a:rPr>
              <a:t>MENSAGEM DA AULA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Buscar é navegar um espaço grande com orçamento pequeno.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5669280" y="1828800"/>
            <a:ext cx="2788920" cy="1389888"/>
          </a:xfrm>
          <a:prstGeom prst="roundRect">
            <a:avLst>
              <a:gd name="adj" fmla="val 3947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0448" y="20299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CDF"/>
                </a:solidFill>
              </a:rPr>
              <a:t>1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5888736" y="2670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definir o espaço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595360" y="1828800"/>
            <a:ext cx="2788920" cy="1389888"/>
          </a:xfrm>
          <a:prstGeom prst="roundRect">
            <a:avLst>
              <a:gd name="adj" fmla="val 3947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96528" y="20299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CDF"/>
                </a:solidFill>
              </a:rPr>
              <a:t>2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8814816" y="2670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medir qualidade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0" y="3374136"/>
            <a:ext cx="2788920" cy="1389888"/>
          </a:xfrm>
          <a:prstGeom prst="roundRect">
            <a:avLst>
              <a:gd name="adj" fmla="val 3947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0448" y="3575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CDF"/>
                </a:solidFill>
              </a:rPr>
              <a:t>3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5888736" y="4215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escolher próximos pontos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595360" y="3374136"/>
            <a:ext cx="2788920" cy="1389888"/>
          </a:xfrm>
          <a:prstGeom prst="roundRect">
            <a:avLst>
              <a:gd name="adj" fmla="val 3947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96528" y="3575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CDF"/>
                </a:solidFill>
              </a:rPr>
              <a:t>4</a:t>
            </a:r>
            <a:endParaRPr lang="en-US" sz="3400" dirty="0"/>
          </a:p>
        </p:txBody>
      </p:sp>
      <p:sp>
        <p:nvSpPr>
          <p:cNvPr id="52" name="Text 50"/>
          <p:cNvSpPr/>
          <p:nvPr/>
        </p:nvSpPr>
        <p:spPr>
          <a:xfrm>
            <a:off x="8814816" y="4215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parar sem testar tudo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7B32B">
              <a:alpha val="24000"/>
            </a:srgbClr>
          </a:solidFill>
          <a:ln w="12700">
            <a:solidFill>
              <a:srgbClr val="F7B3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03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1384663" cy="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622407" y="6565392"/>
            <a:ext cx="8307977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timeline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B32B"/>
                </a:solidFill>
              </a:rPr>
              <a:t>ROTEIRO DE 1 HORA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problema simples ao espaço real de IA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577840" y="1353312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8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77840" y="1353312"/>
            <a:ext cx="54864" cy="566928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1508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B32B"/>
                </a:solidFill>
              </a:rPr>
              <a:t>0-5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14813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Modelo mental de busca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577840" y="2103120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8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2103120"/>
            <a:ext cx="54864" cy="566928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06440" y="22585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B32B"/>
                </a:solidFill>
              </a:rPr>
              <a:t>5-15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83680" y="22311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Regressão como espaço de parâmetros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577840" y="2852928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8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2852928"/>
            <a:ext cx="54864" cy="566928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30083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B32B"/>
                </a:solidFill>
              </a:rPr>
              <a:t>15-25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83680" y="29809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Mínimos locais e globais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577840" y="3602736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8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3602736"/>
            <a:ext cx="54864" cy="566928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06440" y="37581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B32B"/>
                </a:solidFill>
              </a:rPr>
              <a:t>25-35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83680" y="3730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Dimensionalidade e hiperparâmetros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577840" y="4352544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8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7840" y="4352544"/>
            <a:ext cx="54864" cy="566928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06440" y="45079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B32B"/>
                </a:solidFill>
              </a:rPr>
              <a:t>35-50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83680" y="4480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Algoritmos de busca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577840" y="5102352"/>
            <a:ext cx="5669280" cy="566928"/>
          </a:xfrm>
          <a:prstGeom prst="roundRect">
            <a:avLst>
              <a:gd name="adj" fmla="val 6452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8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77840" y="5102352"/>
            <a:ext cx="54864" cy="566928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5257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B32B"/>
                </a:solidFill>
              </a:rPr>
              <a:t>50-60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583680" y="5230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Aplicações e exercício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00A676">
              <a:alpha val="24000"/>
            </a:srgbClr>
          </a:solidFill>
          <a:ln w="12700">
            <a:solidFill>
              <a:srgbClr val="00A6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04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1846217" cy="0"/>
          </a:xfrm>
          <a:prstGeom prst="line">
            <a:avLst/>
          </a:prstGeom>
          <a:noFill/>
          <a:ln w="2794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083961" y="6565392"/>
            <a:ext cx="7846423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iconGrid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676"/>
                </a:solidFill>
              </a:rPr>
              <a:t>VOCABULÁRIO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Quatro peças aparecem em quase toda busca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669280" y="1828800"/>
            <a:ext cx="2788920" cy="1389888"/>
          </a:xfrm>
          <a:prstGeom prst="roundRect">
            <a:avLst>
              <a:gd name="adj" fmla="val 3947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A676"/>
                </a:solidFill>
              </a:rPr>
              <a:t>Estado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833872" y="2331720"/>
            <a:ext cx="24688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Uma solução candidata: reta, pesos, pipeline ou arquitetura.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8595360" y="1828800"/>
            <a:ext cx="2788920" cy="1389888"/>
          </a:xfrm>
          <a:prstGeom prst="roundRect">
            <a:avLst>
              <a:gd name="adj" fmla="val 3947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59952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A676"/>
                </a:solidFill>
              </a:rPr>
              <a:t>Objetivo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759952" y="2331720"/>
            <a:ext cx="24688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Função que mede perda, custo, recompensa ou qualidade.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5669280" y="3374136"/>
            <a:ext cx="2788920" cy="1389888"/>
          </a:xfrm>
          <a:prstGeom prst="roundRect">
            <a:avLst>
              <a:gd name="adj" fmla="val 3947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3872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A676"/>
                </a:solidFill>
              </a:rPr>
              <a:t>Movimento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833872" y="3877056"/>
            <a:ext cx="24688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Como gerar vizinhos, mutações ou novas configurações.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8595360" y="3374136"/>
            <a:ext cx="2788920" cy="1389888"/>
          </a:xfrm>
          <a:prstGeom prst="roundRect">
            <a:avLst>
              <a:gd name="adj" fmla="val 3947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59952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A676"/>
                </a:solidFill>
              </a:rPr>
              <a:t>Orçamento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759952" y="3877056"/>
            <a:ext cx="24688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Tempo, memória, épocas, trials, GPU ou dinheiro.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25F5C">
              <a:alpha val="24000"/>
            </a:srgbClr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05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2307771" cy="0"/>
          </a:xfrm>
          <a:prstGeom prst="line">
            <a:avLst/>
          </a:prstGeom>
          <a:noFill/>
          <a:ln w="2794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545515" y="6565392"/>
            <a:ext cx="7384869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regressionDemo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5F5C"/>
                </a:solidFill>
              </a:rPr>
              <a:t>EXEMPLO MÍNIMO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Ajustar uma reta já é busca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50392" y="4572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FCBC0"/>
                </a:solidFill>
              </a:rPr>
              <a:t>A solução é o par: inclinação e intercepto.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577840" y="1572768"/>
            <a:ext cx="2971800" cy="2880360"/>
          </a:xfrm>
          <a:prstGeom prst="roundRect">
            <a:avLst>
              <a:gd name="adj" fmla="val 2222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97880" y="3794760"/>
            <a:ext cx="0" cy="96926"/>
          </a:xfrm>
          <a:prstGeom prst="line">
            <a:avLst/>
          </a:prstGeom>
          <a:noFill/>
          <a:ln w="12700">
            <a:solidFill>
              <a:srgbClr val="F25F5C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6732" y="3753612"/>
            <a:ext cx="82296" cy="82296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3611880"/>
            <a:ext cx="0" cy="62545"/>
          </a:xfrm>
          <a:prstGeom prst="line">
            <a:avLst/>
          </a:prstGeom>
          <a:noFill/>
          <a:ln w="12700">
            <a:solidFill>
              <a:srgbClr val="F25F5C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58484" y="3570732"/>
            <a:ext cx="82296" cy="82296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7960" y="3246120"/>
            <a:ext cx="0" cy="184709"/>
          </a:xfrm>
          <a:prstGeom prst="line">
            <a:avLst/>
          </a:prstGeom>
          <a:noFill/>
          <a:ln w="12700">
            <a:solidFill>
              <a:srgbClr val="F25F5C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6812" y="3204972"/>
            <a:ext cx="82296" cy="82296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12280" y="2971800"/>
            <a:ext cx="0" cy="261518"/>
          </a:xfrm>
          <a:prstGeom prst="line">
            <a:avLst/>
          </a:prstGeom>
          <a:noFill/>
          <a:ln w="12700">
            <a:solidFill>
              <a:srgbClr val="F25F5C">
                <a:alpha val="6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71132" y="2930652"/>
            <a:ext cx="82296" cy="82296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78040" y="2880360"/>
            <a:ext cx="0" cy="89611"/>
          </a:xfrm>
          <a:prstGeom prst="line">
            <a:avLst/>
          </a:prstGeom>
          <a:noFill/>
          <a:ln w="12700">
            <a:solidFill>
              <a:srgbClr val="F25F5C">
                <a:alpha val="6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6892" y="2839212"/>
            <a:ext cx="82296" cy="82296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52360" y="2514600"/>
            <a:ext cx="0" cy="257861"/>
          </a:xfrm>
          <a:prstGeom prst="line">
            <a:avLst/>
          </a:prstGeom>
          <a:noFill/>
          <a:ln w="12700">
            <a:solidFill>
              <a:srgbClr val="F25F5C">
                <a:alpha val="6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11212" y="2473452"/>
            <a:ext cx="82296" cy="82296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90688" y="2267712"/>
            <a:ext cx="0" cy="261153"/>
          </a:xfrm>
          <a:prstGeom prst="line">
            <a:avLst/>
          </a:prstGeom>
          <a:noFill/>
          <a:ln w="12700">
            <a:solidFill>
              <a:srgbClr val="F25F5C">
                <a:alpha val="6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49540" y="2226564"/>
            <a:ext cx="82296" cy="82296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38160" y="2029968"/>
            <a:ext cx="0" cy="248717"/>
          </a:xfrm>
          <a:prstGeom prst="line">
            <a:avLst/>
          </a:prstGeom>
          <a:noFill/>
          <a:ln w="12700">
            <a:solidFill>
              <a:srgbClr val="F25F5C">
                <a:alpha val="6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97012" y="1988820"/>
            <a:ext cx="82296" cy="82296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06440" y="3977640"/>
            <a:ext cx="2514600" cy="-1828800"/>
          </a:xfrm>
          <a:prstGeom prst="line">
            <a:avLst/>
          </a:prstGeom>
          <a:noFill/>
          <a:ln w="30480">
            <a:solidFill>
              <a:srgbClr val="F25F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69680" y="1901952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98280" y="2139696"/>
            <a:ext cx="411480" cy="384048"/>
          </a:xfrm>
          <a:prstGeom prst="roundRect">
            <a:avLst>
              <a:gd name="adj" fmla="val 9524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9828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Espaço de parâmetros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098280" y="3127248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Cada ponto no espaço representa uma reta. A perda diz se aquela reta é boa ou ruim.</a:t>
            </a:r>
            <a:endParaRPr lang="en-US" sz="1080" dirty="0"/>
          </a:p>
        </p:txBody>
      </p:sp>
      <p:sp>
        <p:nvSpPr>
          <p:cNvPr id="64" name="Shape 62"/>
          <p:cNvSpPr/>
          <p:nvPr/>
        </p:nvSpPr>
        <p:spPr>
          <a:xfrm>
            <a:off x="9052560" y="3986784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65" name="Text 63">
            <a:hlinkClick r:id="rId1" tooltip=""/>
          </p:cNvPr>
          <p:cNvSpPr/>
          <p:nvPr/>
        </p:nvSpPr>
        <p:spPr>
          <a:xfrm>
            <a:off x="9098280" y="4041648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10171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demo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2D6CDF">
              <a:alpha val="24000"/>
            </a:srgbClr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06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2769326" cy="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007070" y="6565392"/>
            <a:ext cx="6923314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formula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6CDF"/>
                </a:solidFill>
              </a:rPr>
              <a:t>GRADIENTE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Quando a paisagem é suave, dá para seguir a inclinação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5669280" y="141732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178308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3"/>
                </a:solidFill>
              </a:rPr>
              <a:t>wₜ₊₁ = wₜ − η · ∇L(wₜ)</a:t>
            </a:r>
            <a:endParaRPr lang="en-US" sz="2300" dirty="0"/>
          </a:p>
        </p:txBody>
      </p:sp>
      <p:sp>
        <p:nvSpPr>
          <p:cNvPr id="43" name="Shape 41"/>
          <p:cNvSpPr/>
          <p:nvPr/>
        </p:nvSpPr>
        <p:spPr>
          <a:xfrm>
            <a:off x="5806440" y="2816352"/>
            <a:ext cx="91440" cy="9144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6752" y="27249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DF8"/>
                </a:solidFill>
              </a:rPr>
              <a:t>w são os parâmetros aprendidos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06440" y="3246120"/>
            <a:ext cx="91440" cy="9144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16752" y="31546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DF8"/>
                </a:solidFill>
              </a:rPr>
              <a:t>η é a taxa de aprendizado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806440" y="3675888"/>
            <a:ext cx="91440" cy="9144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16752" y="35844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DF8"/>
                </a:solidFill>
              </a:rPr>
              <a:t>∇L indica como a perda muda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806440" y="4105656"/>
            <a:ext cx="91440" cy="9144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4014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DF8"/>
                </a:solidFill>
              </a:rPr>
              <a:t>a direção oposta ao gradiente reduz a perda localmente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7B32B">
              <a:alpha val="24000"/>
            </a:srgbClr>
          </a:solidFill>
          <a:ln w="12700">
            <a:solidFill>
              <a:srgbClr val="F7B3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07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3230880" cy="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468624" y="6565392"/>
            <a:ext cx="6461760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minimaDemo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B32B"/>
                </a:solidFill>
              </a:rPr>
              <a:t>ARMADILHA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Localmente bom não significa globalmente melhor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5577840" y="1572768"/>
            <a:ext cx="2971800" cy="2880360"/>
          </a:xfrm>
          <a:prstGeom prst="roundRect">
            <a:avLst>
              <a:gd name="adj" fmla="val 2222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06440" y="3246120"/>
            <a:ext cx="320040" cy="-54864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2697480"/>
            <a:ext cx="320040" cy="45720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3154680"/>
            <a:ext cx="365760" cy="-118872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12280" y="1965960"/>
            <a:ext cx="365760" cy="169164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3657600"/>
            <a:ext cx="365760" cy="-82296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43800" y="2834640"/>
            <a:ext cx="365760" cy="114300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9560" y="3977640"/>
            <a:ext cx="320040" cy="-178308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82512" y="3063240"/>
            <a:ext cx="146304" cy="146304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36408" y="3904488"/>
            <a:ext cx="155448" cy="155448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56448" y="2121408"/>
            <a:ext cx="128016" cy="128016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69680" y="187452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828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O resultado depende de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144000" y="2624328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8592" y="2560320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ponto inicial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9144000" y="2935224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08592" y="2871216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tamanho do passo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9144000" y="3246120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08592" y="31821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forma da função objetivo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9144000" y="3557016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08592" y="3493008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ruído da avaliação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9144000" y="3867912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08592" y="380390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critério de parada</a:t>
            </a:r>
            <a:endParaRPr lang="en-US" sz="980" dirty="0"/>
          </a:p>
        </p:txBody>
      </p:sp>
      <p:sp>
        <p:nvSpPr>
          <p:cNvPr id="64" name="Shape 62"/>
          <p:cNvSpPr/>
          <p:nvPr/>
        </p:nvSpPr>
        <p:spPr>
          <a:xfrm>
            <a:off x="9098280" y="425196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65" name="Text 63">
            <a:hlinkClick r:id="rId1" tooltip=""/>
          </p:cNvPr>
          <p:cNvSpPr/>
          <p:nvPr/>
        </p:nvSpPr>
        <p:spPr>
          <a:xfrm>
            <a:off x="9144000" y="4315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10171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mínimos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00A676">
              <a:alpha val="24000"/>
            </a:srgbClr>
          </a:solidFill>
          <a:ln w="12700">
            <a:solidFill>
              <a:srgbClr val="00A6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08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3692434" cy="0"/>
          </a:xfrm>
          <a:prstGeom prst="line">
            <a:avLst/>
          </a:prstGeom>
          <a:noFill/>
          <a:ln w="2794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930178" y="6565392"/>
            <a:ext cx="6000206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tagCloud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676"/>
                </a:solidFill>
              </a:rPr>
              <a:t>HIPERPARÂMETROS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ML, muitas escolhas ficam fora do treinamento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5577840" y="1417320"/>
            <a:ext cx="1338682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78424" y="1527048"/>
            <a:ext cx="11558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learning rate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7053682" y="1417320"/>
            <a:ext cx="1124712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4266" y="1527048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batch size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8315554" y="1417320"/>
            <a:ext cx="910742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6138" y="1527048"/>
            <a:ext cx="72786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dropout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9363456" y="1417320"/>
            <a:ext cx="1267358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64040" y="1527048"/>
            <a:ext cx="1084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weight decay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5577840" y="1984248"/>
            <a:ext cx="1338682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8424" y="2093976"/>
            <a:ext cx="11558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nº de camadas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7053682" y="1984248"/>
            <a:ext cx="910742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4266" y="2093976"/>
            <a:ext cx="72786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largura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8101584" y="1984248"/>
            <a:ext cx="1267358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02168" y="2093976"/>
            <a:ext cx="1084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profundidade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9506102" y="1984248"/>
            <a:ext cx="839419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06686" y="2093976"/>
            <a:ext cx="65653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kernel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5577840" y="2551176"/>
            <a:ext cx="1053389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78424" y="2660904"/>
            <a:ext cx="87050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k no k-NN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6768389" y="2551176"/>
            <a:ext cx="1623974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68973" y="2660904"/>
            <a:ext cx="14410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data augmentation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8529523" y="2551176"/>
            <a:ext cx="1053389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30107" y="2660904"/>
            <a:ext cx="87050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scheduler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9720072" y="2551176"/>
            <a:ext cx="1124712" cy="384048"/>
          </a:xfrm>
          <a:prstGeom prst="roundRect">
            <a:avLst>
              <a:gd name="adj" fmla="val 11905"/>
            </a:avLst>
          </a:prstGeom>
          <a:solidFill>
            <a:srgbClr val="243129">
              <a:alpha val="96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20656" y="266090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</a:rPr>
              <a:t>otimizador</a:t>
            </a:r>
            <a:endParaRPr lang="en-US" sz="1020" dirty="0"/>
          </a:p>
        </p:txBody>
      </p:sp>
      <p:sp>
        <p:nvSpPr>
          <p:cNvPr id="65" name="Shape 63"/>
          <p:cNvSpPr/>
          <p:nvPr/>
        </p:nvSpPr>
        <p:spPr>
          <a:xfrm>
            <a:off x="5577840" y="3191256"/>
            <a:ext cx="5303520" cy="0"/>
          </a:xfrm>
          <a:prstGeom prst="line">
            <a:avLst/>
          </a:prstGeom>
          <a:noFill/>
          <a:ln w="19050">
            <a:solidFill>
              <a:srgbClr val="00A67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25F5C">
              <a:alpha val="24000"/>
            </a:srgbClr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09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4153989" cy="0"/>
          </a:xfrm>
          <a:prstGeom prst="line">
            <a:avLst/>
          </a:prstGeom>
          <a:noFill/>
          <a:ln w="2794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391733" y="6565392"/>
            <a:ext cx="5538651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dimensions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5F5C"/>
                </a:solidFill>
              </a:rPr>
              <a:t>DIMENSIONALIDADE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número de combinações cresce rápido demais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623560" y="1828800"/>
            <a:ext cx="530352" cy="2148840"/>
          </a:xfrm>
          <a:prstGeom prst="roundRect">
            <a:avLst>
              <a:gd name="adj" fmla="val 6897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23560" y="3590849"/>
            <a:ext cx="530352" cy="386791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05272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</a:rPr>
              <a:t>10²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05272" y="437083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FCBC0"/>
                </a:solidFill>
              </a:rPr>
              <a:t>2 variáveis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6336792" y="1828800"/>
            <a:ext cx="530352" cy="2148840"/>
          </a:xfrm>
          <a:prstGeom prst="roundRect">
            <a:avLst>
              <a:gd name="adj" fmla="val 6897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36792" y="3075127"/>
            <a:ext cx="530352" cy="902513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18504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</a:rPr>
              <a:t>10⁶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18504" y="437083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FCBC0"/>
                </a:solidFill>
              </a:rPr>
              <a:t>6 variáveis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7050024" y="1828800"/>
            <a:ext cx="530352" cy="2148840"/>
          </a:xfrm>
          <a:prstGeom prst="roundRect">
            <a:avLst>
              <a:gd name="adj" fmla="val 6897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50024" y="2516429"/>
            <a:ext cx="530352" cy="1461211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1736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</a:rPr>
              <a:t>10¹⁰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31736" y="437083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FCBC0"/>
                </a:solidFill>
              </a:rPr>
              <a:t>10 variáveis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7763256" y="1828800"/>
            <a:ext cx="530352" cy="2148840"/>
          </a:xfrm>
          <a:prstGeom prst="roundRect">
            <a:avLst>
              <a:gd name="adj" fmla="val 6897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63256" y="1828800"/>
            <a:ext cx="530352" cy="214884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44968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</a:rPr>
              <a:t>10¹⁸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744968" y="437083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FCBC0"/>
                </a:solidFill>
              </a:rPr>
              <a:t>18 variáveis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8869680" y="1901952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98280" y="2139696"/>
            <a:ext cx="411480" cy="384048"/>
          </a:xfrm>
          <a:prstGeom prst="roundRect">
            <a:avLst>
              <a:gd name="adj" fmla="val 9524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9828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10 valores por variável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098280" y="3127248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Com 2 variáveis temos 100 combinações. Com 18 variáveis, passamos de 10¹⁸ combinações.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9052560" y="3986784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62" name="Text 60">
            <a:hlinkClick r:id="rId1" tooltip=""/>
          </p:cNvPr>
          <p:cNvSpPr/>
          <p:nvPr/>
        </p:nvSpPr>
        <p:spPr>
          <a:xfrm>
            <a:off x="9098280" y="4041648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10171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espaço 3D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2D6CDF">
              <a:alpha val="24000"/>
            </a:srgbClr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10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4615543" cy="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853287" y="6565392"/>
            <a:ext cx="5077097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pipeline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6CDF"/>
                </a:solidFill>
              </a:rPr>
              <a:t>HPO COMO CAIXA-PRETA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configuração vira um experimento completo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5596128" y="1920240"/>
            <a:ext cx="914400" cy="1325880"/>
          </a:xfrm>
          <a:prstGeom prst="roundRect">
            <a:avLst>
              <a:gd name="adj" fmla="val 6000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05856" y="2066544"/>
            <a:ext cx="237744" cy="23774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130552"/>
            <a:ext cx="128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713"/>
                </a:solidFill>
              </a:rPr>
              <a:t>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705856" y="2560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DF8"/>
                </a:solidFill>
              </a:rPr>
              <a:t>Configurar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05856" y="2834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FCBC0"/>
                </a:solidFill>
              </a:rPr>
              <a:t>hiperparâmetros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547104" y="2578608"/>
            <a:ext cx="109728" cy="0"/>
          </a:xfrm>
          <a:prstGeom prst="line">
            <a:avLst/>
          </a:prstGeom>
          <a:noFill/>
          <a:ln w="1524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675120" y="1920240"/>
            <a:ext cx="914400" cy="1325880"/>
          </a:xfrm>
          <a:prstGeom prst="roundRect">
            <a:avLst>
              <a:gd name="adj" fmla="val 6000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84848" y="2066544"/>
            <a:ext cx="237744" cy="23774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2130552"/>
            <a:ext cx="128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713"/>
                </a:solidFill>
              </a:rPr>
              <a:t>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784848" y="2560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DF8"/>
                </a:solidFill>
              </a:rPr>
              <a:t>Treinar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84848" y="2834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FCBC0"/>
                </a:solidFill>
              </a:rPr>
              <a:t>modelo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7626096" y="2578608"/>
            <a:ext cx="109728" cy="0"/>
          </a:xfrm>
          <a:prstGeom prst="line">
            <a:avLst/>
          </a:prstGeom>
          <a:noFill/>
          <a:ln w="1524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754112" y="1920240"/>
            <a:ext cx="914400" cy="1325880"/>
          </a:xfrm>
          <a:prstGeom prst="roundRect">
            <a:avLst>
              <a:gd name="adj" fmla="val 6000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63840" y="2066544"/>
            <a:ext cx="237744" cy="23774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18704" y="2130552"/>
            <a:ext cx="128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713"/>
                </a:solidFill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863840" y="2560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DF8"/>
                </a:solidFill>
              </a:rPr>
              <a:t>Validar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863840" y="2834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FCBC0"/>
                </a:solidFill>
              </a:rPr>
              <a:t>métrica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705088" y="2578608"/>
            <a:ext cx="109728" cy="0"/>
          </a:xfrm>
          <a:prstGeom prst="line">
            <a:avLst/>
          </a:prstGeom>
          <a:noFill/>
          <a:ln w="1524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833104" y="1920240"/>
            <a:ext cx="914400" cy="1325880"/>
          </a:xfrm>
          <a:prstGeom prst="roundRect">
            <a:avLst>
              <a:gd name="adj" fmla="val 6000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42832" y="2066544"/>
            <a:ext cx="237744" cy="23774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97696" y="2130552"/>
            <a:ext cx="128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713"/>
                </a:solidFill>
              </a:rPr>
              <a:t>4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942832" y="2560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DF8"/>
                </a:solidFill>
              </a:rPr>
              <a:t>Registrar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942832" y="2834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FCBC0"/>
                </a:solidFill>
              </a:rPr>
              <a:t>score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9784080" y="2578608"/>
            <a:ext cx="109728" cy="0"/>
          </a:xfrm>
          <a:prstGeom prst="line">
            <a:avLst/>
          </a:prstGeom>
          <a:noFill/>
          <a:ln w="1524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912096" y="1920240"/>
            <a:ext cx="914400" cy="1325880"/>
          </a:xfrm>
          <a:prstGeom prst="roundRect">
            <a:avLst>
              <a:gd name="adj" fmla="val 6000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21824" y="2066544"/>
            <a:ext cx="237744" cy="23774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076688" y="2130552"/>
            <a:ext cx="128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713"/>
                </a:solidFill>
              </a:rPr>
              <a:t>5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0021824" y="2560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DF8"/>
                </a:solidFill>
              </a:rPr>
              <a:t>Escolher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0021824" y="2834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FCBC0"/>
                </a:solidFill>
              </a:rPr>
              <a:t>próximo trial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7B32B">
              <a:alpha val="24000"/>
            </a:srgbClr>
          </a:solidFill>
          <a:ln w="12700">
            <a:solidFill>
              <a:srgbClr val="F7B3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11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5077097" cy="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5314841" y="6565392"/>
            <a:ext cx="4615543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samplingComparison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B32B"/>
                </a:solidFill>
              </a:rPr>
              <a:t>BASELINES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 search é simples. Random search costuma ser mais forte.</a:t>
            </a:r>
            <a:endParaRPr lang="en-US" sz="3200" dirty="0"/>
          </a:p>
        </p:txBody>
      </p:sp>
      <p:sp>
        <p:nvSpPr>
          <p:cNvPr id="41" name="Shape 39"/>
          <p:cNvSpPr/>
          <p:nvPr/>
        </p:nvSpPr>
        <p:spPr>
          <a:xfrm>
            <a:off x="5577840" y="1508760"/>
            <a:ext cx="2514600" cy="3154680"/>
          </a:xfrm>
          <a:prstGeom prst="roundRect">
            <a:avLst>
              <a:gd name="adj" fmla="val 2545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1709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Grid search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150608" y="2898648"/>
            <a:ext cx="594360" cy="320040"/>
          </a:xfrm>
          <a:prstGeom prst="ellipse">
            <a:avLst/>
          </a:prstGeom>
          <a:solidFill>
            <a:srgbClr val="F7B32B">
              <a:alpha val="42000"/>
            </a:srgbClr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61888" y="2221992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2221992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48272" y="2221992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41464" y="2221992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34656" y="2221992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61888" y="260604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260604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48272" y="260604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41464" y="260604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34656" y="260604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61888" y="2990088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2990088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48272" y="2990088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41464" y="2990088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34656" y="2990088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61888" y="3374136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5080" y="3374136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48272" y="3374136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41464" y="3374136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34656" y="3374136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61888" y="3758184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55080" y="3758184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48272" y="3758184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41464" y="3758184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34656" y="3758184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49640" y="1508760"/>
            <a:ext cx="2514600" cy="3154680"/>
          </a:xfrm>
          <a:prstGeom prst="roundRect">
            <a:avLst>
              <a:gd name="adj" fmla="val 2545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32520" y="1709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Random search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10122408" y="2898648"/>
            <a:ext cx="594360" cy="320040"/>
          </a:xfrm>
          <a:prstGeom prst="ellipse">
            <a:avLst/>
          </a:prstGeom>
          <a:solidFill>
            <a:srgbClr val="F7B32B">
              <a:alpha val="42000"/>
            </a:srgbClr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15400" y="224028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89720" y="342900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509760" y="2496312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93224" y="374904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49840" y="228600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24160" y="310896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579608" y="379476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875520" y="2807208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52760" y="246888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72600" y="3017520"/>
            <a:ext cx="73152" cy="73152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00A676">
              <a:alpha val="24000"/>
            </a:srgbClr>
          </a:solidFill>
          <a:ln w="12700">
            <a:solidFill>
              <a:srgbClr val="00A6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12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5538651" cy="0"/>
          </a:xfrm>
          <a:prstGeom prst="line">
            <a:avLst/>
          </a:prstGeom>
          <a:noFill/>
          <a:ln w="2794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5776395" y="6565392"/>
            <a:ext cx="4153989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algorithm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676"/>
                </a:solidFill>
              </a:rPr>
              <a:t>BUSCA LOCAL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Subida/descida local explora vizinhos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623560" y="1463040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33872" y="16276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16733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DF8"/>
                </a:solidFill>
              </a:rPr>
              <a:t>Hill climbing / busca local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06440" y="2514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Forças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806440" y="2990088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71032" y="291693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simples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5806440" y="3355848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71032" y="328269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barata por passo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5806440" y="3721608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71032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boa em paisagens suaves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8549640" y="2514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Limites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549640" y="2990088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14232" y="291693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mínimos locais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8549640" y="3355848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14232" y="328269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platôs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8549640" y="3721608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14232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depende da vizinhança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7B32B">
              <a:alpha val="24000"/>
            </a:srgbClr>
          </a:solidFill>
          <a:ln w="12700">
            <a:solidFill>
              <a:srgbClr val="F7B3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13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6000206" cy="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237950" y="6565392"/>
            <a:ext cx="3692434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algorithm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B32B"/>
                </a:solidFill>
              </a:rPr>
              <a:t>MEMÓRIA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 tabu tenta não repetir os mesmos erros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623560" y="1463040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33872" y="16276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16733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DF8"/>
                </a:solidFill>
              </a:rPr>
              <a:t>Busca tabu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06440" y="2514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Forças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806440" y="2990088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71032" y="291693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evita ciclos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5806440" y="3355848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71032" y="328269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escapa de vales locais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5806440" y="3721608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71032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boa em problemas combinatórios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8549640" y="2514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Limites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549640" y="2990088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14232" y="291693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definir vizinhança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8549640" y="3355848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14232" y="328269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tamanho da memória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8549640" y="3721608"/>
            <a:ext cx="73152" cy="73152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14232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FCBC0"/>
                </a:solidFill>
              </a:rPr>
              <a:t>ainda é local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25F5C">
              <a:alpha val="24000"/>
            </a:srgbClr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14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6461760" cy="0"/>
          </a:xfrm>
          <a:prstGeom prst="line">
            <a:avLst/>
          </a:prstGeom>
          <a:noFill/>
          <a:ln w="2794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699504" y="6565392"/>
            <a:ext cx="3230880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evolution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5F5C"/>
                </a:solidFill>
              </a:rPr>
              <a:t>POPULAÇÕES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Algoritmos genéticos mantêm diversidade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669280" y="1828800"/>
            <a:ext cx="1325880" cy="1417320"/>
          </a:xfrm>
          <a:prstGeom prst="roundRect">
            <a:avLst>
              <a:gd name="adj" fmla="val 4138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5F5C"/>
                </a:solidFill>
              </a:rPr>
              <a:t>População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833872" y="2331720"/>
            <a:ext cx="10058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várias soluções ao mesmo tempo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7132320" y="1828800"/>
            <a:ext cx="1325880" cy="1417320"/>
          </a:xfrm>
          <a:prstGeom prst="roundRect">
            <a:avLst>
              <a:gd name="adj" fmla="val 4138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6912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5F5C"/>
                </a:solidFill>
              </a:rPr>
              <a:t>Seleção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296912" y="2331720"/>
            <a:ext cx="10058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mantém candidatos melhores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8595360" y="1828800"/>
            <a:ext cx="1325880" cy="1417320"/>
          </a:xfrm>
          <a:prstGeom prst="roundRect">
            <a:avLst>
              <a:gd name="adj" fmla="val 4138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59952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5F5C"/>
                </a:solidFill>
              </a:rPr>
              <a:t>Cruzamento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759952" y="2331720"/>
            <a:ext cx="10058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combina partes de soluções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10058400" y="1828800"/>
            <a:ext cx="1325880" cy="1417320"/>
          </a:xfrm>
          <a:prstGeom prst="roundRect">
            <a:avLst>
              <a:gd name="adj" fmla="val 4138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22992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5F5C"/>
                </a:solidFill>
              </a:rPr>
              <a:t>Mutação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222992" y="2331720"/>
            <a:ext cx="10058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FCBC0"/>
                </a:solidFill>
              </a:rPr>
              <a:t>injeta diversidade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2D6CDF">
              <a:alpha val="24000"/>
            </a:srgbClr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15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6923314" cy="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7161058" y="6565392"/>
            <a:ext cx="2769326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bayes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6CDF"/>
                </a:solidFill>
              </a:rPr>
              <a:t>MODEL-BASED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Bayesian optimization aprende onde vale testar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5577840" y="1572768"/>
            <a:ext cx="2971800" cy="2880360"/>
          </a:xfrm>
          <a:prstGeom prst="roundRect">
            <a:avLst>
              <a:gd name="adj" fmla="val 2222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06440" y="3291840"/>
            <a:ext cx="365760" cy="-54864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2743200"/>
            <a:ext cx="365760" cy="50292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7960" y="3246120"/>
            <a:ext cx="365760" cy="-68580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2560320"/>
            <a:ext cx="365760" cy="41148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9480" y="2971800"/>
            <a:ext cx="365760" cy="86868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35240" y="3840480"/>
            <a:ext cx="365760" cy="-164592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2194560"/>
            <a:ext cx="274320" cy="41148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89320" y="3108960"/>
            <a:ext cx="100584" cy="10058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3680" y="2785795"/>
            <a:ext cx="100584" cy="10058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87184" y="2759746"/>
            <a:ext cx="100584" cy="10058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0" y="3054763"/>
            <a:ext cx="100584" cy="10058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36992" y="3749040"/>
            <a:ext cx="146304" cy="14630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69680" y="187452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9828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Ideia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144000" y="2624328"/>
            <a:ext cx="73152" cy="7315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08592" y="2560320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cria um modelo substituto da função objetivo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9144000" y="2935224"/>
            <a:ext cx="73152" cy="7315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08592" y="2871216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estima incerteza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9144000" y="3246120"/>
            <a:ext cx="73152" cy="7315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08592" y="31821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usa função de aquisição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9144000" y="3557016"/>
            <a:ext cx="73152" cy="7315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08592" y="3493008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bom quando cada avaliação é cara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00A676">
              <a:alpha val="24000"/>
            </a:srgbClr>
          </a:solidFill>
          <a:ln w="12700">
            <a:solidFill>
              <a:srgbClr val="00A6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16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7384869" cy="0"/>
          </a:xfrm>
          <a:prstGeom prst="line">
            <a:avLst/>
          </a:prstGeom>
          <a:noFill/>
          <a:ln w="2794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7622613" y="6565392"/>
            <a:ext cx="2307771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halving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676"/>
                </a:solidFill>
              </a:rPr>
              <a:t>MULTI-FIDELITY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Não dê orçamento completo para todo mundo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596128" y="1737360"/>
            <a:ext cx="2184959" cy="310896"/>
          </a:xfrm>
          <a:prstGeom prst="roundRect">
            <a:avLst>
              <a:gd name="adj" fmla="val 11765"/>
            </a:avLst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181965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713"/>
                </a:solidFill>
              </a:rPr>
              <a:t>81 configs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458200" y="181051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DF8"/>
                </a:solidFill>
              </a:rPr>
              <a:t>1 época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96128" y="2240280"/>
            <a:ext cx="1672438" cy="310896"/>
          </a:xfrm>
          <a:prstGeom prst="roundRect">
            <a:avLst>
              <a:gd name="adj" fmla="val 11765"/>
            </a:avLst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232257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713"/>
                </a:solidFill>
              </a:rPr>
              <a:t>27 configs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458200" y="231343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DF8"/>
                </a:solidFill>
              </a:rPr>
              <a:t>3 épocas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96128" y="2743200"/>
            <a:ext cx="1132942" cy="310896"/>
          </a:xfrm>
          <a:prstGeom prst="roundRect">
            <a:avLst>
              <a:gd name="adj" fmla="val 11765"/>
            </a:avLst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282549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713"/>
                </a:solidFill>
              </a:rPr>
              <a:t>9 configs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458200" y="281635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DF8"/>
                </a:solidFill>
              </a:rPr>
              <a:t>9 épocas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96128" y="3246120"/>
            <a:ext cx="647395" cy="310896"/>
          </a:xfrm>
          <a:prstGeom prst="roundRect">
            <a:avLst>
              <a:gd name="adj" fmla="val 11765"/>
            </a:avLst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32841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713"/>
                </a:solidFill>
              </a:rPr>
              <a:t>3 configs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458200" y="331927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DF8"/>
                </a:solidFill>
              </a:rPr>
              <a:t>27 épocas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96128" y="3749040"/>
            <a:ext cx="323698" cy="310896"/>
          </a:xfrm>
          <a:prstGeom prst="roundRect">
            <a:avLst>
              <a:gd name="adj" fmla="val 11765"/>
            </a:avLst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383133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713"/>
                </a:solidFill>
              </a:rPr>
              <a:t>1 config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458200" y="382219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DF8"/>
                </a:solidFill>
              </a:rPr>
              <a:t>81 épocas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869680" y="187452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9828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</a:rPr>
              <a:t>Famílias importantes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9144000" y="2624328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08592" y="2560320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Successive Halving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9144000" y="2935224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08592" y="2871216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Hyperband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9144000" y="3246120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08592" y="31821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ASHA</a:t>
            </a:r>
            <a:endParaRPr lang="en-US" sz="980" dirty="0"/>
          </a:p>
        </p:txBody>
      </p:sp>
      <p:sp>
        <p:nvSpPr>
          <p:cNvPr id="64" name="Shape 62"/>
          <p:cNvSpPr/>
          <p:nvPr/>
        </p:nvSpPr>
        <p:spPr>
          <a:xfrm>
            <a:off x="9144000" y="3557016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08592" y="3493008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BOHB</a:t>
            </a:r>
            <a:endParaRPr lang="en-US" sz="980" dirty="0"/>
          </a:p>
        </p:txBody>
      </p:sp>
      <p:sp>
        <p:nvSpPr>
          <p:cNvPr id="66" name="Shape 64"/>
          <p:cNvSpPr/>
          <p:nvPr/>
        </p:nvSpPr>
        <p:spPr>
          <a:xfrm>
            <a:off x="9144000" y="3867912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08592" y="380390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BC0"/>
                </a:solidFill>
              </a:rPr>
              <a:t>pruning / early stopping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7B32B">
              <a:alpha val="24000"/>
            </a:srgbClr>
          </a:solidFill>
          <a:ln w="12700">
            <a:solidFill>
              <a:srgbClr val="F7B3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17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7846423" cy="0"/>
          </a:xfrm>
          <a:prstGeom prst="line">
            <a:avLst/>
          </a:prstGeom>
          <a:noFill/>
          <a:ln w="27940">
            <a:solidFill>
              <a:srgbClr val="F7B32B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084167" y="6565392"/>
            <a:ext cx="1846217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methodMatrix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B32B"/>
                </a:solidFill>
              </a:rPr>
              <a:t>ALÉM DO BÁSICO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Outros algoritmos que aparecem em IA e AutoML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5669280" y="1371600"/>
            <a:ext cx="2788920" cy="667512"/>
          </a:xfrm>
          <a:prstGeom prst="roundRect">
            <a:avLst>
              <a:gd name="adj" fmla="val 8219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B32B"/>
                </a:solidFill>
              </a:rPr>
              <a:t>TPE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33872" y="1874520"/>
            <a:ext cx="24688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BO para espaços mistos e condicionais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595360" y="1371600"/>
            <a:ext cx="2788920" cy="667512"/>
          </a:xfrm>
          <a:prstGeom prst="roundRect">
            <a:avLst>
              <a:gd name="adj" fmla="val 8219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59952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B32B"/>
                </a:solidFill>
              </a:rPr>
              <a:t>SMAC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759952" y="1874520"/>
            <a:ext cx="24688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configuração de algoritmos com Random Forest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5669280" y="2194560"/>
            <a:ext cx="2788920" cy="667512"/>
          </a:xfrm>
          <a:prstGeom prst="roundRect">
            <a:avLst>
              <a:gd name="adj" fmla="val 8219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3872" y="2359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B32B"/>
                </a:solidFill>
              </a:rPr>
              <a:t>CMA-ES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833872" y="2697480"/>
            <a:ext cx="24688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otimização contínua sem derivada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8595360" y="2194560"/>
            <a:ext cx="2788920" cy="667512"/>
          </a:xfrm>
          <a:prstGeom prst="roundRect">
            <a:avLst>
              <a:gd name="adj" fmla="val 8219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59952" y="2359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B32B"/>
                </a:solidFill>
              </a:rPr>
              <a:t>Differential Evolution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59952" y="2697480"/>
            <a:ext cx="24688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população para funções multimodais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5669280" y="3017520"/>
            <a:ext cx="2788920" cy="667512"/>
          </a:xfrm>
          <a:prstGeom prst="roundRect">
            <a:avLst>
              <a:gd name="adj" fmla="val 8219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33872" y="3182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B32B"/>
                </a:solidFill>
              </a:rPr>
              <a:t>PSO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833872" y="3520440"/>
            <a:ext cx="24688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enxame de partículas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8595360" y="3017520"/>
            <a:ext cx="2788920" cy="667512"/>
          </a:xfrm>
          <a:prstGeom prst="roundRect">
            <a:avLst>
              <a:gd name="adj" fmla="val 8219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59952" y="3182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B32B"/>
                </a:solidFill>
              </a:rPr>
              <a:t>PBT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759952" y="3520440"/>
            <a:ext cx="24688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população que aprende schedules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5669280" y="3840480"/>
            <a:ext cx="2788920" cy="667512"/>
          </a:xfrm>
          <a:prstGeom prst="roundRect">
            <a:avLst>
              <a:gd name="adj" fmla="val 8219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33872" y="4005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B32B"/>
                </a:solidFill>
              </a:rPr>
              <a:t>NAS / DARTS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833872" y="4343400"/>
            <a:ext cx="24688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busca por arquiteturas neurais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8595360" y="3840480"/>
            <a:ext cx="2788920" cy="667512"/>
          </a:xfrm>
          <a:prstGeom prst="roundRect">
            <a:avLst>
              <a:gd name="adj" fmla="val 8219"/>
            </a:avLst>
          </a:prstGeom>
          <a:solidFill>
            <a:srgbClr val="243129">
              <a:alpha val="94000"/>
            </a:srgbClr>
          </a:solidFill>
          <a:ln w="12700">
            <a:solidFill>
              <a:srgbClr val="516058">
                <a:alpha val="92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59952" y="4005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B32B"/>
                </a:solidFill>
              </a:rPr>
              <a:t>MCTS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759952" y="4343400"/>
            <a:ext cx="246888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planejamento e jogos com simulação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25F5C">
              <a:alpha val="24000"/>
            </a:srgbClr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18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8307977" cy="0"/>
          </a:xfrm>
          <a:prstGeom prst="line">
            <a:avLst/>
          </a:prstGeom>
          <a:noFill/>
          <a:ln w="2794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545721" y="6565392"/>
            <a:ext cx="1384663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checklist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5F5C"/>
                </a:solidFill>
              </a:rPr>
              <a:t>PRÁTICA EXPERIMENTAL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busca só é boa se a avaliação for correta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577840" y="155448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24144" y="1719072"/>
            <a:ext cx="155448" cy="15544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17099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DF8"/>
                </a:solidFill>
              </a:rPr>
              <a:t>separar treino, validação e teste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8412480" y="155448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58784" y="1719072"/>
            <a:ext cx="155448" cy="15544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33104" y="17099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DF8"/>
                </a:solidFill>
              </a:rPr>
              <a:t>evitar vazamento no pré-processamento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577840" y="233172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24144" y="2496312"/>
            <a:ext cx="155448" cy="15544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98464" y="24871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DF8"/>
                </a:solidFill>
              </a:rPr>
              <a:t>comparar com mesmo orçamento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8412480" y="233172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58784" y="2496312"/>
            <a:ext cx="155448" cy="15544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33104" y="24871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DF8"/>
                </a:solidFill>
              </a:rPr>
              <a:t>usar métrica alinhada ao problema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5577840" y="310896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24144" y="3273552"/>
            <a:ext cx="155448" cy="15544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98464" y="326440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DF8"/>
                </a:solidFill>
              </a:rPr>
              <a:t>registrar todos os trials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8412480" y="310896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58784" y="3273552"/>
            <a:ext cx="155448" cy="15544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33104" y="326440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DF8"/>
                </a:solidFill>
              </a:rPr>
              <a:t>reavaliar melhores configurações com seeds diferentes</a:t>
            </a:r>
            <a:endParaRPr lang="en-US" sz="9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2D6CDF">
              <a:alpha val="24000"/>
            </a:srgbClr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19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8769531" cy="0"/>
          </a:xfrm>
          <a:prstGeom prst="line">
            <a:avLst/>
          </a:prstGeom>
          <a:noFill/>
          <a:ln w="27940">
            <a:solidFill>
              <a:srgbClr val="2D6CD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007275" y="6565392"/>
            <a:ext cx="923109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decisionTable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6CDF"/>
                </a:solidFill>
              </a:rPr>
              <a:t>RESUMO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Não existe algoritmo universalmente melhor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5577840" y="1417320"/>
            <a:ext cx="5532120" cy="411480"/>
          </a:xfrm>
          <a:prstGeom prst="roundRect">
            <a:avLst>
              <a:gd name="adj" fmla="val 888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1536192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Pouco orçamento e baseline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8595360" y="151790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</a:rPr>
              <a:t>random search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77840" y="1984248"/>
            <a:ext cx="5532120" cy="411480"/>
          </a:xfrm>
          <a:prstGeom prst="roundRect">
            <a:avLst>
              <a:gd name="adj" fmla="val 888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2103120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Avaliação cara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8595360" y="2084832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</a:rPr>
              <a:t>Bayesian optimization / TPE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77840" y="2551176"/>
            <a:ext cx="5532120" cy="411480"/>
          </a:xfrm>
          <a:prstGeom prst="roundRect">
            <a:avLst>
              <a:gd name="adj" fmla="val 888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267004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Deep learning com épocas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8595360" y="2651760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</a:rPr>
              <a:t>Hyperband / ASHA / pruning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577840" y="3118104"/>
            <a:ext cx="5532120" cy="411480"/>
          </a:xfrm>
          <a:prstGeom prst="roundRect">
            <a:avLst>
              <a:gd name="adj" fmla="val 888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3236976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Espaço combinatório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8595360" y="321868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</a:rPr>
              <a:t>tabu / genético / annealing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577840" y="3685032"/>
            <a:ext cx="5532120" cy="411480"/>
          </a:xfrm>
          <a:prstGeom prst="roundRect">
            <a:avLst>
              <a:gd name="adj" fmla="val 888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3803904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Contínuo sem gradiente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8595360" y="378561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</a:rPr>
              <a:t>CMA-ES / differential evolution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577840" y="4251960"/>
            <a:ext cx="5532120" cy="411480"/>
          </a:xfrm>
          <a:prstGeom prst="roundRect">
            <a:avLst>
              <a:gd name="adj" fmla="val 8889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4370832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FCBC0"/>
                </a:solidFill>
              </a:rPr>
              <a:t>Vários objetivos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8595360" y="435254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</a:rPr>
              <a:t>Pareto / NSGA-II / BO multiobjetivo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00A676">
              <a:alpha val="24000"/>
            </a:srgbClr>
          </a:solidFill>
          <a:ln w="12700">
            <a:solidFill>
              <a:srgbClr val="00A6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20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9231086" cy="0"/>
          </a:xfrm>
          <a:prstGeom prst="line">
            <a:avLst/>
          </a:prstGeom>
          <a:noFill/>
          <a:ln w="27940">
            <a:solidFill>
              <a:srgbClr val="00A67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468830" y="6565392"/>
            <a:ext cx="461554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6355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FCBC0"/>
                </a:solidFill>
              </a:rPr>
              <a:t>exercise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676"/>
                </a:solidFill>
              </a:rPr>
              <a:t>ATIVIDADE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para casa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50392" y="4572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FCBC0"/>
                </a:solidFill>
              </a:rPr>
              <a:t>Implementar uma busca do zero e comparar com uma linha de base.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577840" y="150876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97880" y="1828800"/>
            <a:ext cx="438912" cy="411480"/>
          </a:xfrm>
          <a:prstGeom prst="roundRect">
            <a:avLst>
              <a:gd name="adj" fmla="val 11111"/>
            </a:avLst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DF8"/>
                </a:solidFill>
              </a:rPr>
              <a:t>Minimize Rastrigin em 10 dimensões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537960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FCBC0"/>
                </a:solidFill>
              </a:rPr>
              <a:t>Compare dois algoritmos com o mesmo orçamento de avaliações.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89320" y="2889504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4768" y="280720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DF8"/>
                </a:solidFill>
              </a:rPr>
              <a:t>implementar do zero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89320" y="3236976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315468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DF8"/>
                </a:solidFill>
              </a:rPr>
              <a:t>plotar melhor valor por avaliação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989320" y="3584448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35021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DF8"/>
                </a:solidFill>
              </a:rPr>
              <a:t>comparar com random search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989320" y="3931920"/>
            <a:ext cx="73152" cy="73152"/>
          </a:xfrm>
          <a:prstGeom prst="ellipse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44768" y="384962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DF8"/>
                </a:solidFill>
              </a:rPr>
              <a:t>discutir mínimos locais e sensibilidade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 w="12700">
            <a:solidFill>
              <a:srgbClr val="1017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05840"/>
            <a:ext cx="3749040" cy="3749040"/>
          </a:xfrm>
          <a:prstGeom prst="ellipse">
            <a:avLst/>
          </a:prstGeom>
          <a:solidFill>
            <a:srgbClr val="F25F5C">
              <a:alpha val="24000"/>
            </a:srgbClr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411480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24360" y="0"/>
            <a:ext cx="0" cy="685800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4348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4445">
            <a:solidFill>
              <a:srgbClr val="24302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em Espaços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5448" y="210312"/>
            <a:ext cx="100584" cy="100584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9648" y="164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21 /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" y="6565392"/>
            <a:ext cx="9692640" cy="0"/>
          </a:xfrm>
          <a:prstGeom prst="line">
            <a:avLst/>
          </a:prstGeom>
          <a:noFill/>
          <a:ln w="27940">
            <a:solidFill>
              <a:srgbClr val="F25F5C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930384" y="6565392"/>
            <a:ext cx="0" cy="0"/>
          </a:xfrm>
          <a:prstGeom prst="line">
            <a:avLst/>
          </a:prstGeom>
          <a:noFill/>
          <a:ln w="15240">
            <a:solidFill>
              <a:srgbClr val="5160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22128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5F5C"/>
                </a:solidFill>
              </a:rPr>
              <a:t>FECHAMENTO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" y="25420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é cheia de buscas dentro de buscas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850392" y="4572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FCBC0"/>
                </a:solidFill>
              </a:rPr>
              <a:t>Treinar ajusta parâmetros. HPO ajusta o processo. AutoML ajusta o pipeline. O desafio é navegar bem com custo limitado.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669280" y="1143000"/>
            <a:ext cx="5715000" cy="5074920"/>
          </a:xfrm>
          <a:prstGeom prst="roundRect">
            <a:avLst>
              <a:gd name="adj" fmla="val 1441"/>
            </a:avLst>
          </a:prstGeom>
          <a:solidFill>
            <a:srgbClr val="243129">
              <a:alpha val="95000"/>
            </a:srgbClr>
          </a:solidFill>
          <a:ln w="12700">
            <a:solidFill>
              <a:srgbClr val="516058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41080" y="3246120"/>
            <a:ext cx="-2148840" cy="-502920"/>
          </a:xfrm>
          <a:prstGeom prst="line">
            <a:avLst/>
          </a:prstGeom>
          <a:noFill/>
          <a:ln w="12700">
            <a:solidFill>
              <a:srgbClr val="516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41080" y="3246120"/>
            <a:ext cx="-1051560" cy="914400"/>
          </a:xfrm>
          <a:prstGeom prst="line">
            <a:avLst/>
          </a:prstGeom>
          <a:noFill/>
          <a:ln w="12700">
            <a:solidFill>
              <a:srgbClr val="516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41080" y="3246120"/>
            <a:ext cx="320040" cy="-822960"/>
          </a:xfrm>
          <a:prstGeom prst="line">
            <a:avLst/>
          </a:prstGeom>
          <a:noFill/>
          <a:ln w="12700">
            <a:solidFill>
              <a:srgbClr val="516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41080" y="3246120"/>
            <a:ext cx="1691640" cy="640080"/>
          </a:xfrm>
          <a:prstGeom prst="line">
            <a:avLst/>
          </a:prstGeom>
          <a:noFill/>
          <a:ln w="12700">
            <a:solidFill>
              <a:srgbClr val="516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7648" y="2578608"/>
            <a:ext cx="329184" cy="329184"/>
          </a:xfrm>
          <a:prstGeom prst="ellipse">
            <a:avLst/>
          </a:prstGeom>
          <a:solidFill>
            <a:srgbClr val="243129"/>
          </a:solidFill>
          <a:ln w="15240">
            <a:solidFill>
              <a:srgbClr val="F25F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1888" y="295351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DF8"/>
                </a:solidFill>
              </a:rPr>
              <a:t>Parâmetros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424928" y="3995928"/>
            <a:ext cx="329184" cy="329184"/>
          </a:xfrm>
          <a:prstGeom prst="ellipse">
            <a:avLst/>
          </a:prstGeom>
          <a:solidFill>
            <a:srgbClr val="243129"/>
          </a:solidFill>
          <a:ln w="15240">
            <a:solidFill>
              <a:srgbClr val="F25F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43708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DF8"/>
                </a:solidFill>
              </a:rPr>
              <a:t>Hiperparâmetros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796528" y="2258568"/>
            <a:ext cx="329184" cy="329184"/>
          </a:xfrm>
          <a:prstGeom prst="ellipse">
            <a:avLst/>
          </a:prstGeom>
          <a:solidFill>
            <a:srgbClr val="243129"/>
          </a:solidFill>
          <a:ln w="15240">
            <a:solidFill>
              <a:srgbClr val="F25F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0768" y="2633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DF8"/>
                </a:solidFill>
              </a:rPr>
              <a:t>Arquitetura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0168128" y="3721608"/>
            <a:ext cx="329184" cy="329184"/>
          </a:xfrm>
          <a:prstGeom prst="ellipse">
            <a:avLst/>
          </a:prstGeom>
          <a:solidFill>
            <a:srgbClr val="243129"/>
          </a:solidFill>
          <a:ln w="15240">
            <a:solidFill>
              <a:srgbClr val="F25F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02368" y="409651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DF8"/>
                </a:solidFill>
              </a:rPr>
              <a:t>Pipeline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476488" y="3081528"/>
            <a:ext cx="329184" cy="329184"/>
          </a:xfrm>
          <a:prstGeom prst="ellipse">
            <a:avLst/>
          </a:prstGeom>
          <a:solidFill>
            <a:srgbClr val="F25F5C"/>
          </a:solidFill>
          <a:ln w="15240">
            <a:solidFill>
              <a:srgbClr val="F25F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10728" y="34564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DF8"/>
                </a:solidFill>
              </a:rPr>
              <a:t>Busca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Aula Busca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Busca em Espaços</dc:title>
  <dc:subject>Busca em espaços e hiperparâmetros</dc:subject>
  <dc:creator>Thiago</dc:creator>
  <cp:lastModifiedBy>Thiago</cp:lastModifiedBy>
  <cp:revision>1</cp:revision>
  <dcterms:created xsi:type="dcterms:W3CDTF">2026-07-07T04:17:44Z</dcterms:created>
  <dcterms:modified xsi:type="dcterms:W3CDTF">2026-07-07T04:17:44Z</dcterms:modified>
</cp:coreProperties>
</file>